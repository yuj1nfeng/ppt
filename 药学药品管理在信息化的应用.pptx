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6.svg" ContentType="image/svg+xml"/>
  <Override PartName="/ppt/media/image68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90.svg" ContentType="image/svg+xml"/>
  <Override PartName="/ppt/media/image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分享的主题是“药学药品管理在信息化的应用”。随着信息技术的飞速发展，传统的药学管理模式正面临着深刻的变革。本次分享将深入探讨当前药学信息化的现状，详细介绍市面上主流的药品管理系统，并展望未来的发展趋势。希望通过这次交流，能让大家对智慧药学的建设有更全面的认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探讨药学信息化建设的时代背景与重要性。接着，回顾其从传统到智慧的四个发展阶段。然后，我们将重点介绍当前主流的五大核心系统模块。之后，通过数据展示信息化带来的显著效益。最后，一同展望智慧药学的未来发展趋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第一部分：引言。药学信息化建设并非凭空产生，而是在国家政策、行业趋势和患者需求的共同驱动下发展起来的。国家政策明确要求加强信息化建设，行业自身也在积极拥抱数字化转型。其核心价值在于保障用药安全、提升管理效率、优化药学服务，并为科学决策提供数据支持，这对于提升整个医疗服务体系的质量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回顾一下药学信息化的发展历程。它大致经历了四个阶段：从最初功能单一的传统管理信息系统，到与医院HIS系统整合，再到推动药学服务模式转变，最终发展到今天的智慧药学全流程管理阶段。每一个阶段都代表着技术的进步和管理理念的革新，标志着我们正朝着更智能、更高效、更安全的药学服务体系迈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第一个阶段，传统管理信息系统阶段。这个阶段大约从80年代到90年代末，主要特点是系统功能单一，架构简单，通常是单机版或简单的局域网应用。虽然实现了基础的库存管理，但最大的问题是信息孤岛严重，各部门数据无法互通，流程割裂，管理方式也比较粗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21世纪，我们迎来了第二个阶段——医院信息系统整合阶段。这个阶段的核心是围绕HIS系统，将医院各个部门的信息系统进行整合。通过采用更先进的架构和数据库技术，我们成功打破了信息孤岛，实现了院内信息的互联互通，特别是处方信息的电子流转，极大地提升了工作效率和管理规范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阶段，是药学服务模式的转变。随着合理用药监测系统等专业工具的引入，药学工作的重心开始从保障药品供应，转向保障用药安全和促进合理用药。药师的角色也发生了重要转变，他们开始走出药房，深入临床一线，为患者提供更专业的药学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altLang="en-US"/>
              <a:t>第四阶段从 2020 年至今，进入智慧药学全流程管理。核心是数据驱动 + </a:t>
            </a:r>
            <a:r>
              <a:rPr lang="en-US" altLang="zh-CN"/>
              <a:t>AI，</a:t>
            </a:r>
            <a:r>
              <a:rPr lang="zh-CN" altLang="en-US"/>
              <a:t>融合人工智能、大数据、物联网、区块链技术；目标是实现预测性、个性化药学服务，彻底打通数据壁垒，重塑药学价值链条。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核心系统介绍部分。首先是药品采购与库存管理系统。这个系统是药房运营的基础，它通过自动化生成采购计划、智能预警库存、严格管理效期以及实现药品质量追溯，实现了药品库存的精细化管理。其优势在于不仅能有效控制成本、减少浪费，更重要的是保障了药品供应的合规性和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详细了解药品采购与库存管理系统的核心功能。它主要包括四个方面：首先是采购计划自动生成，系统能根据数据模型科学地制定采购计划；其次是库存智能预警，实时监控库存水平和效期；第三是效期精准管理，确保先进先出；最后是全程质量追溯，保障药品安全。这些功能共同构成了精细化管理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看看这个系统带来的核心价值。首先是精细化管理，它让我们对药品的管理达到了前所未有的深度。其次是成本有效控制，通过优化库存和减少浪费，直接为医院节约了成本。最后，也是非常重要的一点，是合规性保障，系统帮助我们轻松满足各项法规和评审要求，确保了运营的安全合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系统是处方审核与调剂系统。它的核心是智能审方功能，通过强大的规则库，系统能自动筛查出潜在的用药风险，极大地提升了用药安全。同时，配合自动化调配设备，不仅提高了发药效率，也保证了药品调配的精准性。这个系统是连接医生、药师和患者的重要桥梁，对规范诊疗行为、保障患者安全起到了不可替代的作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系统是临床药学服务系统。这个系统的出现，标志着药师角色的重大转变。通过移动查房、在线会诊等功能，药师能够深入临床，直接参与到患者的治疗过程中。这不仅深化了药学服务的内涵，优化了治疗方案，更通过专业的用药教育，有效提升了患者的用药依从性，体现了“以患者为中心”的服务理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系统是药事管理与决策支持系统。这个系统是医院药事管理的“大脑”。它通过对海量用药数据的深度挖掘和分析，为管理者提供多维度的统计报表和评价指标。这使得药事管理不再仅仅依赖于经验，而是基于客观数据进行科学决策，从而有效提升管理水平，促进合理用药，推动药学学科的发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看硬件层面的自动化与智能化设备。这些设备是信息化系统的重要物理载体。例如，门诊药房的自动发药机，能实现盒装药的快速精准调配；住院药房的智能分包机，确保了单剂量给药的准确性；病区的智能药柜，则保障了药品的安全管理。这些设备与软件系统的结合，共同构成了高效、安全的现代化药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信息化系统带来的变革是多维度的：效率上，审方与发药速度大幅提升，药师工作强度显著降低；安全上，实现了近乎100%的调配准确率，大幅降低了不良反应发生率；服务上，患者取药等待时间缩短三分之二，满意度达86%；同时，系统沉淀的海量数据也为科研教学提供了坚实支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展望一下智慧药学的未来。人工智能和大数据将扮演越来越重要的角色。AI将从辅助工具升级为决策伙伴，为患者提供个性化的用药方案。而大数据分析则能帮助我们实现更精准的预测和干预，主动监测用药安全信号。这预示着药学服务将进入一个更加智能、更加精准的新时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区块链技术和远程药学服务也将是未来的重要发展方向。区块链技术以其不可篡改的特性，将为药品追溯提供终极解决方案。而远程药学服务的普及，则将打破时空限制，让优质的药学服务触手可及，特别是对于偏远地区和行动不便的患者来说，意义重大。这些技术的融合，将共同开启智慧药学的新篇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药学信息化建设是一项集管理、技术和服务于一体的系统工程。它通过整合各类系统和设备，实现了全流程的优化，最终保障了用药安全、提升了效率、优化了服务。展望未来，随着新技术的不断融入，智慧药学将迈向更智能、更精准的新阶段，为全民健康事业做出更大贡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再次感谢大家的参与！希望今天的分享能对大家有所启发。谢谢！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0.svg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47.svg"/><Relationship Id="rId15" Type="http://schemas.openxmlformats.org/officeDocument/2006/relationships/image" Target="../media/image46.png"/><Relationship Id="rId14" Type="http://schemas.openxmlformats.org/officeDocument/2006/relationships/image" Target="../media/image45.svg"/><Relationship Id="rId13" Type="http://schemas.openxmlformats.org/officeDocument/2006/relationships/image" Target="../media/image44.png"/><Relationship Id="rId12" Type="http://schemas.openxmlformats.org/officeDocument/2006/relationships/image" Target="../media/image43.svg"/><Relationship Id="rId11" Type="http://schemas.openxmlformats.org/officeDocument/2006/relationships/image" Target="../media/image42.png"/><Relationship Id="rId10" Type="http://schemas.openxmlformats.org/officeDocument/2006/relationships/image" Target="../media/image41.sv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svg"/><Relationship Id="rId8" Type="http://schemas.openxmlformats.org/officeDocument/2006/relationships/image" Target="../media/image54.png"/><Relationship Id="rId7" Type="http://schemas.openxmlformats.org/officeDocument/2006/relationships/image" Target="../media/image53.svg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1.svg"/><Relationship Id="rId6" Type="http://schemas.openxmlformats.org/officeDocument/2006/relationships/image" Target="../media/image6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2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3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Relationship Id="rId3" Type="http://schemas.openxmlformats.org/officeDocument/2006/relationships/image" Target="../media/image65.png"/><Relationship Id="rId2" Type="http://schemas.openxmlformats.org/officeDocument/2006/relationships/image" Target="../media/image64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5.svg"/><Relationship Id="rId7" Type="http://schemas.openxmlformats.org/officeDocument/2006/relationships/image" Target="../media/image74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Relationship Id="rId3" Type="http://schemas.openxmlformats.org/officeDocument/2006/relationships/image" Target="../media/image70.png"/><Relationship Id="rId2" Type="http://schemas.openxmlformats.org/officeDocument/2006/relationships/image" Target="../media/image69.jpe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svg"/><Relationship Id="rId8" Type="http://schemas.openxmlformats.org/officeDocument/2006/relationships/image" Target="../media/image82.png"/><Relationship Id="rId7" Type="http://schemas.openxmlformats.org/officeDocument/2006/relationships/image" Target="../media/image81.svg"/><Relationship Id="rId6" Type="http://schemas.openxmlformats.org/officeDocument/2006/relationships/image" Target="../media/image80.png"/><Relationship Id="rId5" Type="http://schemas.openxmlformats.org/officeDocument/2006/relationships/image" Target="../media/image79.svg"/><Relationship Id="rId4" Type="http://schemas.openxmlformats.org/officeDocument/2006/relationships/image" Target="../media/image78.png"/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84.jpe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92.svg"/><Relationship Id="rId4" Type="http://schemas.openxmlformats.org/officeDocument/2006/relationships/image" Target="../media/image91.png"/><Relationship Id="rId3" Type="http://schemas.openxmlformats.org/officeDocument/2006/relationships/image" Target="../media/image90.svg"/><Relationship Id="rId2" Type="http://schemas.openxmlformats.org/officeDocument/2006/relationships/image" Target="../media/image89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药学药品管理在信息化的应用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762000" cy="508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现状、系统与未来趋势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徐琦</a:t>
            </a: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|   2026年4月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r>
              <a:rPr lang="en-US" sz="24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032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841500" y="2032000"/>
            <a:ext cx="215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引言：时代背景与重要性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政策驱动与行业发展趋势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信息化建设的核心价值解析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381500" y="1778000"/>
            <a:ext cx="3429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72000" y="2032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61000" y="2032000"/>
            <a:ext cx="215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发展历程：从传统到智慧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回顾从“手工化”到“数字化”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四个关键阶段的演变路径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001000" y="1778000"/>
            <a:ext cx="3429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191500" y="2032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080500" y="2032000"/>
            <a:ext cx="215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核心系统：功能模块详解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采购库存 | 处方审核 | 临床服务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药事管理 | 智能自动化设备集成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324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572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159000" y="45720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应用效益：数据驱动的价值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4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通过数据实证，展示信息化建设在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运营效率提升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医疗质量保障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以及医院精细化管理中的关键作用。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48400" y="4191000"/>
            <a:ext cx="52324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02400" y="4572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45400" y="45720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未来趋势：智慧药学新篇章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4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探讨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AI人工智能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大数据分析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区块链技术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在药学领域的融合，共同开启全方位的智慧药学生态。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引言：信息化浪潮下的药学变革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558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74800" y="1930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政策驱动与行业趋势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667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国家政策引导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卫健委发布建设标准，明确电子病历、处方流转及全流程追溯要求，推动“互联网+医疗健康”落地。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66800" y="3937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行业数字化转型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政策推动医药电商、在线问诊及远程审方发展，行业向“智慧化”与数据资产化转型。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66800" y="5207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患者需求升级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患者期待信息透明、个性化方案及便捷购药体验，倒逼药学服务模式创新。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19558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35800" y="1930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信息化建设的核心价值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794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29400" y="2921000"/>
            <a:ext cx="20447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保障用药安全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9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智能审方拦截上万条规则，实时阻断配伍禁忌与超剂量风险。</a:t>
            </a:r>
            <a:endParaRPr lang="en-US" sz="9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953500" y="2794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105900" y="2921000"/>
            <a:ext cx="20447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提升管理效率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9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自动发药机与分包机释放药师重复性劳动，优化库存周转。</a:t>
            </a:r>
            <a:endParaRPr lang="en-US" sz="9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4572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29400" y="4699000"/>
            <a:ext cx="20447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👨‍⚕️ 优化药学服务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9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依托临床系统开展查房、用药教育与随访，回归专业服务。</a:t>
            </a:r>
            <a:endParaRPr lang="en-US" sz="9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953500" y="4572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105900" y="4699000"/>
            <a:ext cx="20447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📊 支持科学决策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9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大数据助力药占比控制、抗菌药监测及不良反应预警。</a:t>
            </a:r>
            <a:endParaRPr lang="en-US" sz="9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发展历程：药学信息化的四个里程碑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药学信息化发展的四个阶段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2540000" cy="3937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2540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6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6416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302000"/>
            <a:ext cx="215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传统管理信息系统 (MIS)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架构：单机版/C/S架构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技术：简单数据库管理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痛点：信息孤岛严重，跨部门共享难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556000" y="2286000"/>
            <a:ext cx="2540000" cy="3937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56000" y="2286000"/>
            <a:ext cx="2540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266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254500" y="26416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第二阶段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46500" y="3302000"/>
            <a:ext cx="215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医院信息系统整合 (HIS)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核心：HIS互联互通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技术：C/S架构、关系型数据库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突破：打通药库、药房、收费全流程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2286000"/>
            <a:ext cx="2540000" cy="3937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2286000"/>
            <a:ext cx="2540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667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26416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第三阶段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3302000"/>
            <a:ext cx="215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药学服务模式转变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工具：临床药学工作站、PASS系统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技术：规则引擎、初步数据分析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重心：转向临床用药安全与服务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144000" y="2286000"/>
            <a:ext cx="2540000" cy="3937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144000" y="2286000"/>
            <a:ext cx="2540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34500" y="2667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842500" y="26416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第四阶段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334500" y="3302000"/>
            <a:ext cx="215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智慧药学全流程管理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核心：数据驱动+AI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技术：AI、大数据、物联网、区块链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目标：预测性、个性化药学服务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发展历程：药学信息化的四个里程碑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第一阶段：传统管理信息系统 (MIS)</a:t>
            </a: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（20世纪80年代 - 90年代末）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667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74800" y="2641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阶段特点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3302000"/>
            <a:ext cx="45974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架构简单：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以单机版或简单的C/S（客户端/服务器）架构为主，网络应用能力弱。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📊 功能单一：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聚焦药品的入库、出库、盘点等基础操作，满足基础的财务核算与库存记录需求。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💻 技术基础：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基于桌面数据库管理系统，如FoxPro、Access，缺乏统一的数据标准。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413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667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35800" y="2641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核心局限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27800" y="3302000"/>
            <a:ext cx="45974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🚧 信息孤岛：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各科室系统独立运行，数据无法跨部门实时共享，形成严重的数据壁垒。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📄 流程割裂：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药房、药库、门诊与住院收费等部门间仍需纸质单据流转，效率低且极易出错。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📉 管理粗放：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缺乏对药品批次、效期的精细化追踪与管理能力，难以满足临床用药安全的要求。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发展历程：药学信息化的四个里程碑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第二阶段：医院信息系统整合 (HIS)</a:t>
            </a:r>
            <a:r>
              <a:rPr lang="en-US" sz="2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2000年 - 2010年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667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 · 模块整合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556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医院信息系统 (HIS)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为核心枢纽，打通医院内各业务单元的数据壁垒。将药房管理、药库采购与库存、门诊医生工作站、住院医嘱处理以及患者费用结算等分散模块进行一体化整合，奠定了全院级信息流转的基础。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413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667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2667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 · 架构升级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556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技术架构上，全面转向成熟的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C/S 或 B/S（浏览器/服务器）架构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，以适应不同科室和角色的访问需求。数据层面，引入了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Oracle、SQL Server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等主流关系型数据库，保障了海量业务数据的稳定性、一致性和安全性。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413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667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017000" y="2667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 · 价值落地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556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▪ 打破孤岛：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实现处方从医生站到药房的直接流转。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▪ 流程闭环：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完成医嘱-调配-结算的全链路信息闭环。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▪ 管理规范：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建立统一的药品字典与标准化管理体系。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发展历程：药学信息化的四个里程碑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第三阶段：药学服务模式转变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5748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2010年 — 2020年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30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692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专业工具赋能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56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引入一系列专业系统，助力业务标准化：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临床药学工作站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合理用药监测系统 (PASS)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药物咨询系统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2413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730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2692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关键技术突破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556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技术手段逐步升级，实现智能化管理：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规则引擎技术：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应用于处方自动审核与精准用药建议生成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数据分析技术：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用于药品使用情况的统计分析与评价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2413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0FDF9">
              <a:alpha val="100000"/>
            </a:srgbClr>
          </a:solidFill>
          <a:ln w="25400" cap="flat" cmpd="sng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730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2692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重心与角色双重转型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556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工作重心转变：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从“保障药品供应” → “保障临床用药安全、促进合理用药”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👨‍⚕️ 药师角色升级：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走出药房，深入临床一线，参与查房、用药咨询与患者教育。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发展历程：药学信息化的四个里程碑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第四阶段：</a:t>
            </a: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智慧药学全流程管理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398000" y="1549400"/>
            <a:ext cx="1778000" cy="457200"/>
          </a:xfrm>
          <a:prstGeom prst="roundRect">
            <a:avLst>
              <a:gd name="adj" fmla="val 5000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2020年 至今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3302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794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01800" y="2794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 · 数据驱动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以数据驱动为核心引擎，打通信息壁垒，打破传统药学管理的信息孤岛。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全面整合分散的业务数据，实现医院药学全流程业务的智能化管理与主动式服务，重塑业务流程与价值链条。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核心系统(一)：药品采购与库存管理系统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5555" r="5555"/>
          <a:stretch>
            <a:fillRect/>
          </a:stretch>
        </p:blipFill>
        <p:spPr>
          <a:xfrm>
            <a:off x="762000" y="1651000"/>
            <a:ext cx="4064000" cy="4572000"/>
          </a:xfrm>
          <a:prstGeom prst="roundRect">
            <a:avLst>
              <a:gd name="adj" fmla="val 5000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207000" y="1651000"/>
            <a:ext cx="6223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461000" y="1841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核心功能模块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0" y="2476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905500" y="24130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采购计划自动生成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基于ABC分类、安全库存模型及历史消耗，生成科学计划，降低失误。</a:t>
            </a:r>
            <a:endParaRPr 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9000" y="2476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9017000" y="2413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库存智能预警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对近效期、破损及滞销药品自动预警，并提供处理建议。</a:t>
            </a:r>
            <a:endParaRPr 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1000" y="355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905500" y="36195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效期精准管理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批号管理结合效期预警，强制“先进先出、近期先出”。</a:t>
            </a:r>
            <a:endParaRPr 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9000" y="3556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3619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全程质量追溯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依托电子监管码/区块链，打通生产、流通至临床的追溯链。</a:t>
            </a:r>
            <a:endParaRPr 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207000" y="4699000"/>
            <a:ext cx="6223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461000" y="4889500"/>
            <a:ext cx="571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核心价值与优势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461000" y="5397500"/>
            <a:ext cx="18415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88000" y="55626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969000" y="5461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精细化管理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多维度掌控批次、供应商及价格信息。</a:t>
            </a:r>
            <a:endParaRPr lang="en-US" sz="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366000" y="5397500"/>
            <a:ext cx="18415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93000" y="55626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874000" y="5461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成本有效控制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优化结构，降低缺货率与资金占用。</a:t>
            </a:r>
            <a:endParaRPr lang="en-US" sz="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271000" y="5397500"/>
            <a:ext cx="18415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98000" y="55626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779000" y="5461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合规性保障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满足GSP及等级医院评审要求。</a:t>
            </a:r>
            <a:endParaRPr lang="en-US" sz="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核心系统(一)：药品采购与库存管理系统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762000" cy="1841500"/>
          </a:xfrm>
          <a:prstGeom prst="roundRect">
            <a:avLst>
              <a:gd name="adj" fmla="val 13333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300" y="2413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68500" y="1841500"/>
            <a:ext cx="3810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采购计划自动生成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原理：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基于ABC分类法、安全库存模型和历史消耗数据，系统自动计算并生成科学的采购计划。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优势：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减少人为经验判断的误差，避免药品积压或缺货，提升采购资金利用率。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13500" y="1905000"/>
            <a:ext cx="762000" cy="1841500"/>
          </a:xfrm>
          <a:prstGeom prst="roundRect">
            <a:avLst>
              <a:gd name="adj" fmla="val 13333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1300" y="2413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29500" y="1841500"/>
            <a:ext cx="3810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库存智能预警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功能：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对药品库存设置上下限，库存不足时自动预警；同时对近效期、破损、滞销药品进行自动提醒和处理建议。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优势：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实现库存的动态监控，避免断供风险，保障临床用药需求。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4445000"/>
            <a:ext cx="762000" cy="1841500"/>
          </a:xfrm>
          <a:prstGeom prst="roundRect">
            <a:avLst>
              <a:gd name="adj" fmla="val 13333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0300" y="4953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68500" y="4381500"/>
            <a:ext cx="3810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效期精准管理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功能：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通过严格的批号管理和效期预警，系统强制实现“先进先出、近期先出”的原则，防止人为疏忽。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优势：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最大程度减少药品过期浪费，降低成本，确保患者使用到最新效期的药品。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4445000"/>
            <a:ext cx="762000" cy="1841500"/>
          </a:xfrm>
          <a:prstGeom prst="roundRect">
            <a:avLst>
              <a:gd name="adj" fmla="val 13333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1300" y="4953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429500" y="4381500"/>
            <a:ext cx="3810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全程质量追溯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功能：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通过药品电子监管码或区块链技术，实现从生产企业、批发企业到医院药房的全链条信息追溯。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优势：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确保药品来源可查、去向可追，有效防范假药流入，保障用药安全。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核心系统(一)：药品采购与库存管理系统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5800" y="2159000"/>
            <a:ext cx="914400" cy="914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330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精细化管理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19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对药品的批次、供应商、价格、库存数量等多维度信息进行精细化管理，管理者可以实时掌握每一个药品的动态。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提升管理颗粒度，为科学决策提供坚实的数据基础。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2159000"/>
            <a:ext cx="914400" cy="914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35500" y="330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成本有效控制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419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通过数据分析优化库存结构，降低缺货率和资金占用率。同时，减少药品过期浪费，直接降低医院运营成本。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在充分保障临床供应的前提下，实现整体运营成本的最小化。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1800" y="2159000"/>
            <a:ext cx="914400" cy="914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318500" y="330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合规性保障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419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系统流程设计严格遵循GSP规范和等级医院评审要求，所有操作全程留痕，可追溯、可审计。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确保药品采购、存储、使用全流程符合法规，有效规避医疗与合规风险。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核心系统(二)：处方审核与调剂系统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8426" r="18426"/>
          <a:stretch>
            <a:fillRect/>
          </a:stretch>
        </p:blipFill>
        <p:spPr>
          <a:xfrm>
            <a:off x="762000" y="1778000"/>
            <a:ext cx="4826000" cy="4318000"/>
          </a:xfrm>
          <a:prstGeom prst="roundRect">
            <a:avLst>
              <a:gd name="adj" fmla="val 3529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096000" y="1778000"/>
            <a:ext cx="5334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413500" y="1905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核心功能模块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智能审方(PASS系统)：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审核药物相互作用、过敏史、禁忌症、重复用药、剂量异常及给药途径不当等风险。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精准调配：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单剂量摆药机自动分药，智能分包机将多药包成一包并打印信息。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处方流转：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打通院内平台、医保及互联网医院的电子通道。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0" y="4191000"/>
            <a:ext cx="5334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096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13500" y="4318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系统核心价值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提升用药安全：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拦截超90%不合理处方，显著降低ADR发生率。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提高调配效率：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自动化调配效率较人工提升3倍，大幅减少候药时间。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规范诊疗行为：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通过实时提醒与事后点评，助力医生提升合理用药水平。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核心系统(三)：临床药学服务系统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7606" r="17606"/>
          <a:stretch>
            <a:fillRect/>
          </a:stretch>
        </p:blipFill>
        <p:spPr>
          <a:xfrm>
            <a:off x="762000" y="1651000"/>
            <a:ext cx="4064000" cy="4699000"/>
          </a:xfrm>
          <a:prstGeom prst="roundRect">
            <a:avLst>
              <a:gd name="adj" fmla="val 3750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207000" y="1651000"/>
            <a:ext cx="6223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207000" y="1854200"/>
            <a:ext cx="76200" cy="3048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461000" y="1778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0" y="2349500"/>
            <a:ext cx="571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药师移动查房：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通过移动PDA/平板实时查阅电子病历、检查报告与用药记录，床边记录会诊意见，深入临床一线参与方案制定。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临床药学会诊：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支持MDT多学科协作，在疑难杂症场景下，系统支撑药师高效参与复杂病例研讨。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用药评估与教育：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建立完整用药档案，动态评估疗效，为出院患者生成个性化指导单并支持在线咨询。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207000" y="4318000"/>
            <a:ext cx="6223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207000" y="4521200"/>
            <a:ext cx="76200" cy="3048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461000" y="4445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系统核心价值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61000" y="5016500"/>
            <a:ext cx="571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★ 深化服务：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药师角色从“药品供应者”转型为“临床治疗团队核心成员”。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★ 优化方案：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基于PK/PD分析，为危重患者制定个体化给药方案，规避不良反应。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★ 提升依从：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通过用药提醒与教育视频，帮助患者自主管理用药，降低复发率。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核心系统(四)：药事管理与决策支持系统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0425" r="10425"/>
          <a:stretch>
            <a:fillRect/>
          </a:stretch>
        </p:blipFill>
        <p:spPr>
          <a:xfrm>
            <a:off x="762000" y="1651000"/>
            <a:ext cx="4826000" cy="4572000"/>
          </a:xfrm>
          <a:prstGeom prst="roundRect">
            <a:avLst>
              <a:gd name="adj" fmla="val 4444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096000" y="1524000"/>
            <a:ext cx="5334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0" y="1524000"/>
            <a:ext cx="76200" cy="25400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7145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794500" y="167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核心功能：多维洞察与智能质控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159000"/>
            <a:ext cx="482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多维度分析：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涵盖全院/科室/医生用药排名、药品费用、医保及抗菌药物使用强度，提供全景统计。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合理用药评价：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依据《处方管理办法》自动评分点评，生成考核报表。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质控指标监控：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实时监控处方合格率、抗菌药物使用率等关键指标并预警。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4254500"/>
            <a:ext cx="5334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096000" y="4254500"/>
            <a:ext cx="76200" cy="24130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44450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94500" y="4406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核心价值：驱动管理与学科发展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48895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数据驱动决策：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辅助药品遴选、招标采购及政策制定，发现超常用药并干预。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赋能学科建设：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为药物利用研究、药物经济学评价提供详实数据支持。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核心系统(五)：自动化与智能化硬件设备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1764" r="11764"/>
          <a:stretch>
            <a:fillRect/>
          </a:stretch>
        </p:blipFill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318000" y="1778000"/>
            <a:ext cx="2286000" cy="4318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318000" y="1778000"/>
            <a:ext cx="2286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0800" y="2159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445000" y="2984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自动发药机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3556000"/>
            <a:ext cx="2032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📍 场景：</a:t>
            </a: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门诊药房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⚙️ 功能：</a:t>
            </a: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扫描处方，机械臂自动取药、核对、传送，药师仅需复核。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优势：</a:t>
            </a: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处理速度快，适合大批量处方，大幅减少排队。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858000" y="1778000"/>
            <a:ext cx="2286000" cy="4318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858000" y="1778000"/>
            <a:ext cx="2286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70800" y="2159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2984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智能分包机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985000" y="3556000"/>
            <a:ext cx="2032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📍 场景：</a:t>
            </a: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住院药房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⚙️ 功能：</a:t>
            </a: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按单次剂量分包，打印患者信息、服用时间及注意事项。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优势：</a:t>
            </a: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单剂量精准化管理，避免给药错误，提升住院药房效率。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398000" y="1778000"/>
            <a:ext cx="2286000" cy="4318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398000" y="1778000"/>
            <a:ext cx="2286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10800" y="2159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525000" y="2984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智能药柜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0" y="3556000"/>
            <a:ext cx="2032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📍 场景：</a:t>
            </a: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病区、急诊抢救室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⚙️ 功能：</a:t>
            </a: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人脸识别认证，记录存取信息，实现药品闭环管理。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优势：</a:t>
            </a: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保障急救与备用药品安全，权限管理严格。</a:t>
            </a: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应用效益：信息化带来的革命性变革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信息化升级带来的多维度显著成效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05000"/>
            <a:ext cx="419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效率跃升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审方时间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↓75%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库存周转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↑35%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发药速度提升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50%+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药师强度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↓40%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1905000"/>
            <a:ext cx="419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质量与安全保障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处方拦截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&gt;95%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调配准确率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≈100%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ADR发生率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↓30%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全流程追溯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810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683000"/>
            <a:ext cx="419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服务与满意度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患者满意度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86%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等待时间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15→5min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药师回归临床，会诊次数提升显著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3556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810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3683000"/>
            <a:ext cx="419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科研与教学支持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提供海量真实数据分析支持，助力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临床药学研究与人才培养体系建设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62000" y="5334000"/>
            <a:ext cx="5207000" cy="1143000"/>
          </a:xfrm>
          <a:prstGeom prst="roundRect">
            <a:avLst>
              <a:gd name="adj" fmla="val 13333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8" name="AutoShape 18"/>
          <p:cNvSpPr/>
          <p:nvPr/>
        </p:nvSpPr>
        <p:spPr>
          <a:xfrm>
            <a:off x="6223000" y="533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50000" y="5397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模式变革：从“人找药”到“药找人”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全链路信息化改造解放药师体力劳动，回归临床服务本位。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未来趋势(一)：人工智能与大数据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8179" b="18179"/>
          <a:stretch>
            <a:fillRect/>
          </a:stretch>
        </p:blipFill>
        <p:spPr>
          <a:xfrm>
            <a:off x="952500" y="1841500"/>
            <a:ext cx="4826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81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 (AI) 的深度应用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4450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个性化用药方案推荐：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结合基因检测（精准医疗）、电子病历及实时体征，为肿瘤、慢病患者定制个体化用药方案。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药物研发加速：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应用于靶点发现、化合物筛选及临床试验设计，将研发周期缩短数年并降低成本。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17251" b="17251"/>
          <a:stretch>
            <a:fillRect/>
          </a:stretch>
        </p:blipFill>
        <p:spPr>
          <a:xfrm>
            <a:off x="6413500" y="1841500"/>
            <a:ext cx="4826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413500" y="381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大数据分析的价值挖掘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44450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精准预测与干预：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分析区域流感数据预测用药需求，提前储备抗病毒药物，实现公共卫生前瞻性干预。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群体用药安全信号监测：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从电子病历与医保数据中主动发现不良反应信号，建立药品“哨点监测”体系。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未来趋势(二)：区块链与远程服务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8663" b="8663"/>
          <a:stretch>
            <a:fillRect/>
          </a:stretch>
        </p:blipFill>
        <p:spPr>
          <a:xfrm>
            <a:off x="1016000" y="1905000"/>
            <a:ext cx="4699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3937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区块链技术的应用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572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ts val="600"/>
              </a:spcBef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不可篡改的药品追溯：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利用区块链去中心化、分布式账本特性，确保追溯信息真实不可篡改，从根本上解决假药问题。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供应链透明化：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实现生产、流通到医院的全流程信息共享，提升供应链的效率和协同能力。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16409" b="16409"/>
          <a:stretch>
            <a:fillRect/>
          </a:stretch>
        </p:blipFill>
        <p:spPr>
          <a:xfrm>
            <a:off x="6477000" y="1905000"/>
            <a:ext cx="4699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477000" y="3937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远程药学服务的普及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4572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ts val="600"/>
              </a:spcBef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线上审方与用药咨询：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互联网医院模式下，药师通过视频、图文提供在线审方、用药指导和慢病管理。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居家药学服务：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为高龄、残疾等特殊患者提供送药上门、用药监测及居家护理指导等服务。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2352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2098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3048000"/>
            <a:ext cx="45974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药学信息化建设是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技术、管理、服务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三位一体的深度融合，是实现医院高质量发展的重要引擎。它不仅是工具的升级，更是理念的革新，核心是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“以患者为中心”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，通过整合管理系统与前沿技术，实现从采购到临床的全流程优化，保障用药安全与服务质量。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2352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22098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展望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27800" y="3048000"/>
            <a:ext cx="45974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未来，智慧药学将深度融入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“智慧医院”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与“健康中国”战略，构建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“线上+线下、院内+院外、制剂+精准用药”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的全方位全周期服务模式，以技术革新驱动服务升级。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826000" y="3175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spc="400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期待与您的下次交流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4818</Words>
  <Application>WPS 演示</Application>
  <PresentationFormat/>
  <Paragraphs>342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 ·X</cp:lastModifiedBy>
  <cp:revision>4</cp:revision>
  <dcterms:created xsi:type="dcterms:W3CDTF">2026-04-27T06:57:00Z</dcterms:created>
  <dcterms:modified xsi:type="dcterms:W3CDTF">2026-04-27T07:29:48Z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EB8D70262B7542468848951C4DB49CC6_12</vt:lpwstr>
  </property>
  <property fmtid="{D5CDD505-2E9C-101B-9397-08002B2CF9AE}" pid="3" name="KSOProductBuildVer">
    <vt:lpwstr>2052-12.1.0.25865</vt:lpwstr>
  </property>
</Properties>
</file>